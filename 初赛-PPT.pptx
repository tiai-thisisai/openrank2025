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0" r:id="rId7"/>
    <p:sldId id="309" r:id="rId8"/>
    <p:sldId id="259" r:id="rId9"/>
    <p:sldId id="272" r:id="rId10"/>
    <p:sldId id="310" r:id="rId11"/>
    <p:sldId id="269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DengXi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DengXi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DengXi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DengXi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DengXian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DengXian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DengXian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DengXian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DengXi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35"/>
    <p:restoredTop sz="96291"/>
  </p:normalViewPr>
  <p:slideViewPr>
    <p:cSldViewPr snapToGrid="0" snapToObjects="1">
      <p:cViewPr varScale="1">
        <p:scale>
          <a:sx n="121" d="100"/>
          <a:sy n="121" d="100"/>
        </p:scale>
        <p:origin x="379" y="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DengXian"/>
      </a:defRPr>
    </a:lvl1pPr>
    <a:lvl2pPr indent="228600" latinLnBrk="0">
      <a:defRPr sz="1200">
        <a:latin typeface="+mn-lt"/>
        <a:ea typeface="+mn-ea"/>
        <a:cs typeface="+mn-cs"/>
        <a:sym typeface="DengXian"/>
      </a:defRPr>
    </a:lvl2pPr>
    <a:lvl3pPr indent="457200" latinLnBrk="0">
      <a:defRPr sz="1200">
        <a:latin typeface="+mn-lt"/>
        <a:ea typeface="+mn-ea"/>
        <a:cs typeface="+mn-cs"/>
        <a:sym typeface="DengXian"/>
      </a:defRPr>
    </a:lvl3pPr>
    <a:lvl4pPr indent="685800" latinLnBrk="0">
      <a:defRPr sz="1200">
        <a:latin typeface="+mn-lt"/>
        <a:ea typeface="+mn-ea"/>
        <a:cs typeface="+mn-cs"/>
        <a:sym typeface="DengXian"/>
      </a:defRPr>
    </a:lvl4pPr>
    <a:lvl5pPr indent="914400" latinLnBrk="0">
      <a:defRPr sz="1200">
        <a:latin typeface="+mn-lt"/>
        <a:ea typeface="+mn-ea"/>
        <a:cs typeface="+mn-cs"/>
        <a:sym typeface="DengXian"/>
      </a:defRPr>
    </a:lvl5pPr>
    <a:lvl6pPr indent="1143000" latinLnBrk="0">
      <a:defRPr sz="1200">
        <a:latin typeface="+mn-lt"/>
        <a:ea typeface="+mn-ea"/>
        <a:cs typeface="+mn-cs"/>
        <a:sym typeface="DengXian"/>
      </a:defRPr>
    </a:lvl6pPr>
    <a:lvl7pPr indent="1371600" latinLnBrk="0">
      <a:defRPr sz="1200">
        <a:latin typeface="+mn-lt"/>
        <a:ea typeface="+mn-ea"/>
        <a:cs typeface="+mn-cs"/>
        <a:sym typeface="DengXian"/>
      </a:defRPr>
    </a:lvl7pPr>
    <a:lvl8pPr indent="1600200" latinLnBrk="0">
      <a:defRPr sz="1200">
        <a:latin typeface="+mn-lt"/>
        <a:ea typeface="+mn-ea"/>
        <a:cs typeface="+mn-cs"/>
        <a:sym typeface="DengXian"/>
      </a:defRPr>
    </a:lvl8pPr>
    <a:lvl9pPr indent="1828800" latinLnBrk="0">
      <a:defRPr sz="1200">
        <a:latin typeface="+mn-lt"/>
        <a:ea typeface="+mn-ea"/>
        <a:cs typeface="+mn-cs"/>
        <a:sym typeface="DengXi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DengXian Light"/>
          <a:ea typeface="DengXian Light"/>
          <a:cs typeface="DengXian Light"/>
          <a:sym typeface="DengXian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DengXian Light"/>
          <a:ea typeface="DengXian Light"/>
          <a:cs typeface="DengXian Light"/>
          <a:sym typeface="DengXian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DengXian Light"/>
          <a:ea typeface="DengXian Light"/>
          <a:cs typeface="DengXian Light"/>
          <a:sym typeface="DengXian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DengXian Light"/>
          <a:ea typeface="DengXian Light"/>
          <a:cs typeface="DengXian Light"/>
          <a:sym typeface="DengXian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DengXian Light"/>
          <a:ea typeface="DengXian Light"/>
          <a:cs typeface="DengXian Light"/>
          <a:sym typeface="DengXian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DengXian Light"/>
          <a:ea typeface="DengXian Light"/>
          <a:cs typeface="DengXian Light"/>
          <a:sym typeface="DengXian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DengXian Light"/>
          <a:ea typeface="DengXian Light"/>
          <a:cs typeface="DengXian Light"/>
          <a:sym typeface="DengXian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DengXian Light"/>
          <a:ea typeface="DengXian Light"/>
          <a:cs typeface="DengXian Light"/>
          <a:sym typeface="DengXian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DengXian Light"/>
          <a:ea typeface="DengXian Light"/>
          <a:cs typeface="DengXian Light"/>
          <a:sym typeface="DengXian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DengXian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DengXian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DengXian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DengXian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DengXian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DengXian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DengXian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DengXian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DengXian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engXian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engXian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engXian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engXian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engXian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engXian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engXian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engXian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engXi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tags" Target="../tags/tag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tags" Target="../tags/tag4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logo.png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822" y="663617"/>
            <a:ext cx="949716" cy="13724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487725" y="2235682"/>
            <a:ext cx="7216549" cy="19304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2800" i="1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0"/>
                <a:cs typeface="Times New Roman" panose="02020503050405090304" pitchFamily="18" charset="0"/>
              </a:rPr>
              <a:t>Open Source Latitude and Longitude</a:t>
            </a:r>
            <a:endParaRPr lang="en-US" altLang="zh-CN" sz="2800" i="1" dirty="0">
              <a:solidFill>
                <a:schemeClr val="bg1"/>
              </a:solidFill>
              <a:latin typeface="Times New Roman" panose="02020503050405090304" pitchFamily="18" charset="0"/>
              <a:ea typeface="微软雅黑" charset="0"/>
              <a:cs typeface="Times New Roman" panose="02020503050405090304" pitchFamily="18" charset="0"/>
            </a:endParaRPr>
          </a:p>
          <a:p>
            <a:pPr algn="ctr"/>
            <a:endParaRPr lang="en-US" altLang="zh-CN" sz="2000" i="1" dirty="0">
              <a:solidFill>
                <a:schemeClr val="bg1"/>
              </a:solidFill>
              <a:latin typeface="Times New Roman" panose="02020503050405090304" pitchFamily="18" charset="0"/>
              <a:ea typeface="微软雅黑" charset="0"/>
              <a:cs typeface="Times New Roman" panose="02020503050405090304" pitchFamily="18" charset="0"/>
            </a:endParaRPr>
          </a:p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“开源经纬”</a:t>
            </a:r>
            <a:r>
              <a:rPr lang="en-US" altLang="zh-CN" sz="2400" b="1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——  </a:t>
            </a:r>
            <a:r>
              <a:rPr lang="zh-CN" altLang="en-US" sz="2400" b="1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全球首个可交互式的</a:t>
            </a:r>
            <a:endParaRPr lang="en-US" altLang="zh-CN" sz="2400" b="1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开源世界“人口普查”平台</a:t>
            </a:r>
            <a:endParaRPr lang="en-US" altLang="zh-CN" sz="240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303730" y="4157885"/>
            <a:ext cx="7327900" cy="1773926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队名：</a:t>
            </a:r>
            <a:r>
              <a:rPr lang="en-US" altLang="zh-CN" b="1" i="1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0"/>
                <a:cs typeface="Times New Roman" panose="02020503050405090304" pitchFamily="18" charset="0"/>
              </a:rPr>
              <a:t>ThisisAI</a:t>
            </a:r>
            <a:endParaRPr lang="en-US" altLang="zh-CN" b="1" i="1" dirty="0">
              <a:solidFill>
                <a:schemeClr val="bg1"/>
              </a:solidFill>
              <a:latin typeface="Times New Roman" panose="02020503050405090304" pitchFamily="18" charset="0"/>
              <a:ea typeface="微软雅黑" charset="0"/>
              <a:cs typeface="Times New Roman" panose="02020503050405090304" pitchFamily="18" charset="0"/>
            </a:endParaRPr>
          </a:p>
          <a:p>
            <a:pPr algn="ctr"/>
            <a:endParaRPr lang="en-US" altLang="zh-CN" b="1" i="1" dirty="0">
              <a:solidFill>
                <a:schemeClr val="bg1"/>
              </a:solidFill>
              <a:latin typeface="Times New Roman" panose="02020503050405090304" pitchFamily="18" charset="0"/>
              <a:ea typeface="微软雅黑" charset="0"/>
              <a:cs typeface="Times New Roman" panose="02020503050405090304" pitchFamily="18" charset="0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0"/>
                <a:cs typeface="Times New Roman" panose="02020503050405090304" pitchFamily="18" charset="0"/>
              </a:rPr>
              <a:t>参赛赛道 </a:t>
            </a:r>
            <a:r>
              <a:rPr lang="en-US" altLang="zh-CN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0"/>
                <a:cs typeface="Times New Roman" panose="02020503050405090304" pitchFamily="18" charset="0"/>
              </a:rPr>
              <a:t>:  </a:t>
            </a:r>
            <a:r>
              <a:rPr lang="zh-CN" altLang="en-US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0"/>
                <a:cs typeface="Times New Roman" panose="02020503050405090304" pitchFamily="18" charset="0"/>
              </a:rPr>
              <a:t>基于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0"/>
                <a:cs typeface="Times New Roman" panose="02020503050405090304" pitchFamily="18" charset="0"/>
              </a:rPr>
              <a:t>OpenDigger</a:t>
            </a:r>
            <a:endParaRPr lang="en-US" altLang="zh-CN" i="1" dirty="0">
              <a:solidFill>
                <a:schemeClr val="bg1"/>
              </a:solidFill>
              <a:latin typeface="Times New Roman" panose="02020503050405090304" pitchFamily="18" charset="0"/>
              <a:ea typeface="微软雅黑" charset="0"/>
              <a:cs typeface="Times New Roman" panose="02020503050405090304" pitchFamily="18" charset="0"/>
            </a:endParaRPr>
          </a:p>
          <a:p>
            <a:pPr algn="ctr"/>
            <a:endParaRPr lang="en-US" altLang="zh-CN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参赛选手：彭佳恒  张雨昂  张雨欣</a:t>
            </a:r>
            <a:endParaRPr lang="en-US" altLang="zh-CN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 algn="ctr"/>
            <a:endParaRPr lang="en-US" altLang="zh-CN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指导老师：王伟  邱芹军</a:t>
            </a:r>
            <a:endParaRPr lang="zh-CN" altLang="en-US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11" name="图片 10" descr="徽标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300" y="4125331"/>
            <a:ext cx="309251" cy="46984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ONTENTS"/>
          <p:cNvSpPr txBox="1"/>
          <p:nvPr/>
        </p:nvSpPr>
        <p:spPr>
          <a:xfrm>
            <a:off x="4905502" y="807110"/>
            <a:ext cx="2565401" cy="51077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000" b="1" spc="359">
                <a:solidFill>
                  <a:srgbClr val="07A1D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t>CONTENTS</a:t>
            </a:r>
          </a:p>
        </p:txBody>
      </p:sp>
      <p:sp>
        <p:nvSpPr>
          <p:cNvPr id="102" name="目  录"/>
          <p:cNvSpPr txBox="1"/>
          <p:nvPr/>
        </p:nvSpPr>
        <p:spPr>
          <a:xfrm>
            <a:off x="5648484" y="1237456"/>
            <a:ext cx="1079436" cy="5105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500" spc="299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目  录</a:t>
            </a:r>
          </a:p>
        </p:txBody>
      </p:sp>
      <p:sp>
        <p:nvSpPr>
          <p:cNvPr id="103" name="线条"/>
          <p:cNvSpPr/>
          <p:nvPr/>
        </p:nvSpPr>
        <p:spPr>
          <a:xfrm flipV="1">
            <a:off x="4776907" y="1443186"/>
            <a:ext cx="1" cy="4870541"/>
          </a:xfrm>
          <a:prstGeom prst="line">
            <a:avLst/>
          </a:prstGeom>
          <a:ln w="25400">
            <a:solidFill>
              <a:srgbClr val="111214"/>
            </a:solidFill>
            <a:miter lim="400000"/>
          </a:ln>
        </p:spPr>
        <p:txBody>
          <a:bodyPr lIns="45719" rIns="45719"/>
          <a:lstStyle/>
          <a:p/>
        </p:txBody>
      </p:sp>
      <p:sp>
        <p:nvSpPr>
          <p:cNvPr id="105" name="1"/>
          <p:cNvSpPr txBox="1"/>
          <p:nvPr/>
        </p:nvSpPr>
        <p:spPr>
          <a:xfrm>
            <a:off x="2825341" y="2013889"/>
            <a:ext cx="598560" cy="107835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700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1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7" name="线条"/>
          <p:cNvSpPr/>
          <p:nvPr/>
        </p:nvSpPr>
        <p:spPr>
          <a:xfrm flipV="1">
            <a:off x="3458572" y="2223070"/>
            <a:ext cx="151013" cy="714530"/>
          </a:xfrm>
          <a:prstGeom prst="line">
            <a:avLst/>
          </a:prstGeom>
          <a:ln w="12700">
            <a:solidFill>
              <a:srgbClr val="9AD744"/>
            </a:solidFill>
            <a:miter/>
          </a:ln>
        </p:spPr>
        <p:txBody>
          <a:bodyPr lIns="45719" rIns="45719"/>
          <a:lstStyle/>
          <a:p/>
        </p:txBody>
      </p:sp>
      <p:pic>
        <p:nvPicPr>
          <p:cNvPr id="108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2059" y="1884904"/>
            <a:ext cx="718633" cy="6226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2334073" y="5466401"/>
            <a:ext cx="718634" cy="6226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0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9253321" y="5514388"/>
            <a:ext cx="718634" cy="6226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1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9301307" y="1932891"/>
            <a:ext cx="718634" cy="6226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2"/>
          <p:cNvSpPr txBox="1"/>
          <p:nvPr/>
        </p:nvSpPr>
        <p:spPr>
          <a:xfrm>
            <a:off x="7014385" y="2013889"/>
            <a:ext cx="598561" cy="107835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700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2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5" name="线条"/>
          <p:cNvSpPr/>
          <p:nvPr/>
        </p:nvSpPr>
        <p:spPr>
          <a:xfrm flipV="1">
            <a:off x="7647615" y="2223070"/>
            <a:ext cx="151013" cy="714530"/>
          </a:xfrm>
          <a:prstGeom prst="line">
            <a:avLst/>
          </a:prstGeom>
          <a:ln w="12700">
            <a:solidFill>
              <a:srgbClr val="9AD744"/>
            </a:solidFill>
            <a:miter/>
          </a:ln>
        </p:spPr>
        <p:txBody>
          <a:bodyPr lIns="45719" rIns="45719"/>
          <a:lstStyle/>
          <a:p/>
        </p:txBody>
      </p:sp>
      <p:sp>
        <p:nvSpPr>
          <p:cNvPr id="117" name="3"/>
          <p:cNvSpPr txBox="1"/>
          <p:nvPr/>
        </p:nvSpPr>
        <p:spPr>
          <a:xfrm>
            <a:off x="2825341" y="3387868"/>
            <a:ext cx="598560" cy="107835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700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FFFFFF"/>
                </a:solidFill>
              </a:rPr>
              <a:t>3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19" name="线条"/>
          <p:cNvSpPr/>
          <p:nvPr/>
        </p:nvSpPr>
        <p:spPr>
          <a:xfrm flipV="1">
            <a:off x="3458572" y="3597049"/>
            <a:ext cx="151013" cy="714530"/>
          </a:xfrm>
          <a:prstGeom prst="line">
            <a:avLst/>
          </a:prstGeom>
          <a:ln w="12700">
            <a:solidFill>
              <a:srgbClr val="9AD744"/>
            </a:solidFill>
            <a:miter/>
          </a:ln>
        </p:spPr>
        <p:txBody>
          <a:bodyPr lIns="45719" rIns="45719"/>
          <a:lstStyle/>
          <a:p/>
        </p:txBody>
      </p:sp>
      <p:sp>
        <p:nvSpPr>
          <p:cNvPr id="121" name="4"/>
          <p:cNvSpPr txBox="1"/>
          <p:nvPr/>
        </p:nvSpPr>
        <p:spPr>
          <a:xfrm>
            <a:off x="7014385" y="3387868"/>
            <a:ext cx="598561" cy="107835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700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4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3" name="线条"/>
          <p:cNvSpPr/>
          <p:nvPr/>
        </p:nvSpPr>
        <p:spPr>
          <a:xfrm flipV="1">
            <a:off x="7647615" y="3597049"/>
            <a:ext cx="151013" cy="714530"/>
          </a:xfrm>
          <a:prstGeom prst="line">
            <a:avLst/>
          </a:prstGeom>
          <a:ln w="12700">
            <a:solidFill>
              <a:srgbClr val="9AD744"/>
            </a:solidFill>
            <a:miter/>
          </a:ln>
        </p:spPr>
        <p:txBody>
          <a:bodyPr lIns="45719" rIns="45719"/>
          <a:lstStyle/>
          <a:p/>
        </p:txBody>
      </p:sp>
      <p:pic>
        <p:nvPicPr>
          <p:cNvPr id="12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1" y="583142"/>
            <a:ext cx="1137059" cy="5018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文本框 3"/>
          <p:cNvSpPr txBox="1"/>
          <p:nvPr/>
        </p:nvSpPr>
        <p:spPr>
          <a:xfrm>
            <a:off x="3866517" y="2312391"/>
            <a:ext cx="19112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研究背景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DengXian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59791" y="2312391"/>
            <a:ext cx="1911255" cy="5822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DengXian"/>
              </a:rPr>
              <a:t>方法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DengXian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66517" y="3705162"/>
            <a:ext cx="19112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实验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DengXian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83671" y="3667555"/>
            <a:ext cx="228249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结论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DengXian"/>
            </a:endParaRPr>
          </a:p>
        </p:txBody>
      </p:sp>
      <p:sp>
        <p:nvSpPr>
          <p:cNvPr id="8" name="3"/>
          <p:cNvSpPr txBox="1"/>
          <p:nvPr/>
        </p:nvSpPr>
        <p:spPr>
          <a:xfrm>
            <a:off x="2825341" y="4894326"/>
            <a:ext cx="590865" cy="11695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700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FFFFFF"/>
                </a:solidFill>
              </a:rPr>
              <a:t>5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9" name="线条"/>
          <p:cNvSpPr/>
          <p:nvPr/>
        </p:nvSpPr>
        <p:spPr>
          <a:xfrm flipV="1">
            <a:off x="3458572" y="5103507"/>
            <a:ext cx="151013" cy="714530"/>
          </a:xfrm>
          <a:prstGeom prst="line">
            <a:avLst/>
          </a:prstGeom>
          <a:ln w="12700">
            <a:solidFill>
              <a:srgbClr val="9AD744"/>
            </a:solidFill>
            <a:miter/>
          </a:ln>
        </p:spPr>
        <p:txBody>
          <a:bodyPr lIns="45719" rIns="45719"/>
          <a:lstStyle/>
          <a:p/>
        </p:txBody>
      </p:sp>
      <p:sp>
        <p:nvSpPr>
          <p:cNvPr id="10" name="4"/>
          <p:cNvSpPr txBox="1"/>
          <p:nvPr/>
        </p:nvSpPr>
        <p:spPr>
          <a:xfrm>
            <a:off x="7014385" y="4894326"/>
            <a:ext cx="590865" cy="11695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700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FFFFFF"/>
                </a:solidFill>
              </a:rPr>
              <a:t>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1" name="线条"/>
          <p:cNvSpPr/>
          <p:nvPr/>
        </p:nvSpPr>
        <p:spPr>
          <a:xfrm flipV="1">
            <a:off x="7647615" y="5103507"/>
            <a:ext cx="151013" cy="714530"/>
          </a:xfrm>
          <a:prstGeom prst="line">
            <a:avLst/>
          </a:prstGeom>
          <a:ln w="12700">
            <a:solidFill>
              <a:srgbClr val="9AD744"/>
            </a:solidFill>
            <a:miter/>
          </a:ln>
        </p:spPr>
        <p:txBody>
          <a:bodyPr lIns="45719" rIns="45719"/>
          <a:lstStyle/>
          <a:p/>
        </p:txBody>
      </p:sp>
      <p:sp>
        <p:nvSpPr>
          <p:cNvPr id="12" name="文本框 11"/>
          <p:cNvSpPr txBox="1"/>
          <p:nvPr/>
        </p:nvSpPr>
        <p:spPr>
          <a:xfrm>
            <a:off x="3866517" y="5211620"/>
            <a:ext cx="19112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贡献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DengXian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83671" y="5174013"/>
            <a:ext cx="228249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开源协作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DengXian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图像" descr="图像"/>
          <p:cNvPicPr>
            <a:picLocks noChangeAspect="1"/>
          </p:cNvPicPr>
          <p:nvPr/>
        </p:nvPicPr>
        <p:blipFill>
          <a:blip r:embed="rId1">
            <a:alphaModFix amt="48372"/>
          </a:blip>
          <a:stretch>
            <a:fillRect/>
          </a:stretch>
        </p:blipFill>
        <p:spPr>
          <a:xfrm>
            <a:off x="5218855" y="1391236"/>
            <a:ext cx="1754290" cy="214146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8" name="圆形"/>
          <p:cNvSpPr/>
          <p:nvPr/>
        </p:nvSpPr>
        <p:spPr>
          <a:xfrm>
            <a:off x="5593675" y="1785719"/>
            <a:ext cx="1004650" cy="1004650"/>
          </a:xfrm>
          <a:prstGeom prst="ellipse">
            <a:avLst/>
          </a:prstGeom>
          <a:solidFill>
            <a:srgbClr val="111214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129" name="01"/>
          <p:cNvSpPr txBox="1"/>
          <p:nvPr/>
        </p:nvSpPr>
        <p:spPr>
          <a:xfrm>
            <a:off x="5704899" y="1941145"/>
            <a:ext cx="782202" cy="76999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48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t>01</a:t>
            </a:r>
          </a:p>
        </p:txBody>
      </p:sp>
      <p:sp>
        <p:nvSpPr>
          <p:cNvPr id="130" name="第一模块标题"/>
          <p:cNvSpPr txBox="1"/>
          <p:nvPr/>
        </p:nvSpPr>
        <p:spPr>
          <a:xfrm>
            <a:off x="5218855" y="4372472"/>
            <a:ext cx="1815367" cy="55399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000" b="1" spc="359">
                <a:solidFill>
                  <a:srgbClr val="07A1D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zh-CN" altLang="en-US" dirty="0">
                <a:latin typeface="微软雅黑" charset="-122"/>
                <a:ea typeface="微软雅黑" charset="-122"/>
                <a:cs typeface="微软雅黑" charset="-122"/>
              </a:rPr>
              <a:t>研究背景</a:t>
            </a:r>
            <a:endParaRPr lang="en-US" altLang="zh-CN" dirty="0">
              <a:latin typeface="微软雅黑" charset="-122"/>
              <a:ea typeface="微软雅黑" charset="-122"/>
              <a:cs typeface="微软雅黑" charset="-122"/>
            </a:endParaRPr>
          </a:p>
        </p:txBody>
      </p:sp>
      <p:pic>
        <p:nvPicPr>
          <p:cNvPr id="133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1" y="583142"/>
            <a:ext cx="1137059" cy="5018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线条"/>
          <p:cNvSpPr/>
          <p:nvPr/>
        </p:nvSpPr>
        <p:spPr>
          <a:xfrm flipV="1">
            <a:off x="6096000" y="3597508"/>
            <a:ext cx="0" cy="296759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/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267" y="6111469"/>
            <a:ext cx="1137058" cy="5018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矩形"/>
          <p:cNvSpPr/>
          <p:nvPr/>
        </p:nvSpPr>
        <p:spPr>
          <a:xfrm>
            <a:off x="0" y="125756"/>
            <a:ext cx="209561" cy="596224"/>
          </a:xfrm>
          <a:prstGeom prst="rect">
            <a:avLst/>
          </a:prstGeom>
          <a:solidFill>
            <a:srgbClr val="9AD744">
              <a:alpha val="59552"/>
            </a:srgbClr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166" name="01"/>
          <p:cNvSpPr txBox="1"/>
          <p:nvPr/>
        </p:nvSpPr>
        <p:spPr>
          <a:xfrm>
            <a:off x="389048" y="20235"/>
            <a:ext cx="810455" cy="80726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5000" b="1">
                <a:solidFill>
                  <a:srgbClr val="07A1D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t>01</a:t>
            </a:r>
          </a:p>
        </p:txBody>
      </p:sp>
      <p:sp>
        <p:nvSpPr>
          <p:cNvPr id="168" name="文本框 4"/>
          <p:cNvSpPr txBox="1"/>
          <p:nvPr/>
        </p:nvSpPr>
        <p:spPr>
          <a:xfrm>
            <a:off x="1484284" y="956212"/>
            <a:ext cx="3778516" cy="44204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90000"/>
              </a:lnSpc>
              <a:defRPr sz="1400" spc="98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endParaRPr dirty="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9" name="线条"/>
          <p:cNvSpPr/>
          <p:nvPr/>
        </p:nvSpPr>
        <p:spPr>
          <a:xfrm flipV="1">
            <a:off x="1252483" y="127862"/>
            <a:ext cx="213541" cy="592013"/>
          </a:xfrm>
          <a:prstGeom prst="line">
            <a:avLst/>
          </a:prstGeom>
          <a:ln w="12700">
            <a:solidFill>
              <a:srgbClr val="9AD744"/>
            </a:solidFill>
            <a:miter/>
          </a:ln>
        </p:spPr>
        <p:txBody>
          <a:bodyPr lIns="45719" rIns="45719"/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529486" y="1115528"/>
            <a:ext cx="10869249" cy="961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	GitHub 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上超过 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60% 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的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开发者未填写有效地理位置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，字段中充斥着 “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Earth”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、“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Mars”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、“宇宙中心” 等无效信息。这使得：</a:t>
            </a:r>
            <a:endParaRPr lang="zh-CN" altLang="en-US" sz="2000" dirty="0">
              <a:solidFill>
                <a:schemeClr val="bg1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519004" y="54350"/>
            <a:ext cx="9955333" cy="662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为什么我们需要“开源经纬”？</a:t>
            </a:r>
            <a:endParaRPr lang="zh-CN" altLang="en-US" sz="28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7864" y="2370326"/>
            <a:ext cx="6094948" cy="2346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全球开源贡献的区域分析长期建立在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沙上楼阁</a:t>
            </a:r>
            <a:endParaRPr lang="en-US" altLang="zh-CN" sz="2000" b="1" dirty="0">
              <a:solidFill>
                <a:schemeClr val="accent2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bg1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地方政府难以评估本地真实的技术活跃度</a:t>
            </a:r>
            <a:endParaRPr lang="en-US" altLang="zh-CN" sz="2000" dirty="0">
              <a:solidFill>
                <a:schemeClr val="bg1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bg1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跨时区协作缺乏真实的地理上下文</a:t>
            </a:r>
            <a:endParaRPr lang="zh-CN" altLang="en-US" sz="2000" dirty="0">
              <a:solidFill>
                <a:schemeClr val="bg1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897" y="5179665"/>
            <a:ext cx="10516428" cy="4994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6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“开源经纬”从行为中提取坐标，用算法代替猜测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，为开源世界建立可信赖的地理基准系。</a:t>
            </a:r>
            <a:endParaRPr lang="zh-CN" altLang="en-US" sz="2000" dirty="0">
              <a:solidFill>
                <a:schemeClr val="bg1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pic>
        <p:nvPicPr>
          <p:cNvPr id="9" name="图片 8" descr="卡通人物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561" y="1927838"/>
            <a:ext cx="2194560" cy="1273449"/>
          </a:xfrm>
          <a:prstGeom prst="rect">
            <a:avLst/>
          </a:prstGeom>
        </p:spPr>
      </p:pic>
      <p:pic>
        <p:nvPicPr>
          <p:cNvPr id="11" name="图片 10" descr="卡通人物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562" y="3494988"/>
            <a:ext cx="2194560" cy="1291959"/>
          </a:xfrm>
          <a:prstGeom prst="rect">
            <a:avLst/>
          </a:prstGeom>
        </p:spPr>
      </p:pic>
      <p:pic>
        <p:nvPicPr>
          <p:cNvPr id="13" name="图片 12" descr="图片包含 文本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3481" y="3489417"/>
            <a:ext cx="2265485" cy="130310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267" y="6111469"/>
            <a:ext cx="1137058" cy="5018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矩形"/>
          <p:cNvSpPr/>
          <p:nvPr/>
        </p:nvSpPr>
        <p:spPr>
          <a:xfrm>
            <a:off x="0" y="125756"/>
            <a:ext cx="209561" cy="596224"/>
          </a:xfrm>
          <a:prstGeom prst="rect">
            <a:avLst/>
          </a:prstGeom>
          <a:solidFill>
            <a:srgbClr val="9AD744">
              <a:alpha val="59552"/>
            </a:srgbClr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166" name="01"/>
          <p:cNvSpPr txBox="1"/>
          <p:nvPr/>
        </p:nvSpPr>
        <p:spPr>
          <a:xfrm>
            <a:off x="389048" y="20235"/>
            <a:ext cx="810455" cy="80726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5000" b="1">
                <a:solidFill>
                  <a:srgbClr val="07A1D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t>01</a:t>
            </a:r>
          </a:p>
        </p:txBody>
      </p:sp>
      <p:sp>
        <p:nvSpPr>
          <p:cNvPr id="168" name="文本框 4"/>
          <p:cNvSpPr txBox="1"/>
          <p:nvPr/>
        </p:nvSpPr>
        <p:spPr>
          <a:xfrm>
            <a:off x="1484284" y="956212"/>
            <a:ext cx="3778516" cy="44204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90000"/>
              </a:lnSpc>
              <a:defRPr sz="1400" spc="98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endParaRPr dirty="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9" name="线条"/>
          <p:cNvSpPr/>
          <p:nvPr/>
        </p:nvSpPr>
        <p:spPr>
          <a:xfrm flipV="1">
            <a:off x="1252483" y="127862"/>
            <a:ext cx="213541" cy="592013"/>
          </a:xfrm>
          <a:prstGeom prst="line">
            <a:avLst/>
          </a:prstGeom>
          <a:ln w="12700">
            <a:solidFill>
              <a:srgbClr val="9AD744"/>
            </a:solidFill>
            <a:miter/>
          </a:ln>
        </p:spPr>
        <p:txBody>
          <a:bodyPr lIns="45719" rIns="45719"/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529487" y="958993"/>
            <a:ext cx="10575744" cy="961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开源经纬（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Open Source Latitude and Longitude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）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—— 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全球首个可交互式的开源世界“人口普查”平台，是一个真正意义上的数据闭环项目：</a:t>
            </a:r>
            <a:endParaRPr lang="zh-CN" altLang="en-US" sz="2000" dirty="0">
              <a:solidFill>
                <a:schemeClr val="bg1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519004" y="54350"/>
            <a:ext cx="9955333" cy="662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什么是“开源经纬”？</a:t>
            </a:r>
            <a:endParaRPr lang="zh-CN" altLang="en-US" sz="28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6229" y="3861603"/>
            <a:ext cx="10279002" cy="2120902"/>
          </a:xfrm>
          <a:prstGeom prst="rect">
            <a:avLst/>
          </a:prstGeom>
          <a:noFill/>
          <a:ln w="12700" cap="flat">
            <a:solidFill>
              <a:schemeClr val="accent6"/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       基于</a:t>
            </a:r>
            <a:r>
              <a:rPr lang="en-US" altLang="zh-CN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OpenDigger</a:t>
            </a:r>
            <a:r>
              <a:rPr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提供的</a:t>
            </a:r>
            <a:r>
              <a:rPr lang="en-US" altLang="zh-CN" b="1" dirty="0">
                <a:solidFill>
                  <a:schemeClr val="accent2"/>
                </a:solidFill>
                <a:latin typeface="微软雅黑" charset="-122"/>
                <a:ea typeface="微软雅黑" charset="-122"/>
              </a:rPr>
              <a:t>90</a:t>
            </a:r>
            <a:r>
              <a:rPr lang="zh-CN" altLang="en-US" b="1" dirty="0">
                <a:solidFill>
                  <a:schemeClr val="accent2"/>
                </a:solidFill>
                <a:latin typeface="微软雅黑" charset="-122"/>
                <a:ea typeface="微软雅黑" charset="-122"/>
              </a:rPr>
              <a:t>亿</a:t>
            </a:r>
            <a:r>
              <a:rPr lang="en-US" altLang="zh-CN" b="1" dirty="0">
                <a:solidFill>
                  <a:schemeClr val="accent2"/>
                </a:solidFill>
                <a:latin typeface="微软雅黑" charset="-122"/>
                <a:ea typeface="微软雅黑" charset="-122"/>
              </a:rPr>
              <a:t>+</a:t>
            </a:r>
            <a:r>
              <a:rPr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开发者全域行为日志，我们构建一套不依赖用户自述位置的高精度地理推断引擎，成功为</a:t>
            </a:r>
            <a:r>
              <a:rPr lang="en-US" altLang="zh-CN" b="1" dirty="0">
                <a:solidFill>
                  <a:schemeClr val="accent2"/>
                </a:solidFill>
                <a:latin typeface="微软雅黑" charset="-122"/>
                <a:ea typeface="微软雅黑" charset="-122"/>
              </a:rPr>
              <a:t>2200</a:t>
            </a:r>
            <a:r>
              <a:rPr lang="zh-CN" altLang="en-US" b="1" dirty="0">
                <a:solidFill>
                  <a:schemeClr val="accent2"/>
                </a:solidFill>
                <a:latin typeface="微软雅黑" charset="-122"/>
                <a:ea typeface="微软雅黑" charset="-122"/>
              </a:rPr>
              <a:t>万</a:t>
            </a:r>
            <a:r>
              <a:rPr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活跃开发者标注可信地理位置。所有推断结果已全量写回 </a:t>
            </a:r>
            <a:r>
              <a:rPr lang="en-US" altLang="zh-CN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OpenDigger </a:t>
            </a:r>
            <a:r>
              <a:rPr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数据库，成为其官方地理信息源。既是技术突破，更是对开源基础设施的反哺。</a:t>
            </a:r>
            <a:endParaRPr lang="en-US" altLang="zh-CN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       如今，你可以在 </a:t>
            </a:r>
            <a:r>
              <a:rPr lang="en-US" altLang="zh-CN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OpenDigger </a:t>
            </a:r>
            <a:r>
              <a:rPr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中直接查询任意开发者的国家、省份甚至城市坐标。这一切，都源于我们对“ </a:t>
            </a:r>
            <a:r>
              <a:rPr lang="zh-CN" altLang="en-US" b="1" dirty="0">
                <a:solidFill>
                  <a:schemeClr val="accent2"/>
                </a:solidFill>
                <a:latin typeface="微软雅黑" charset="-122"/>
                <a:ea typeface="微软雅黑" charset="-122"/>
              </a:rPr>
              <a:t>谁在写代码？他们身在何处？</a:t>
            </a:r>
            <a:r>
              <a:rPr lang="zh-CN" altLang="en-US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”这一基本问题的回答。</a:t>
            </a:r>
            <a:endParaRPr lang="zh-CN" altLang="en-US" sz="2000" dirty="0">
              <a:solidFill>
                <a:schemeClr val="bg1"/>
              </a:solidFill>
              <a:latin typeface="微软雅黑" charset="-122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02168" y="2146883"/>
            <a:ext cx="4534438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i="0" dirty="0">
                <a:solidFill>
                  <a:schemeClr val="bg1"/>
                </a:solidFill>
                <a:effectLst/>
                <a:latin typeface="微软雅黑" charset="-122"/>
                <a:ea typeface="微软雅黑" charset="-122"/>
              </a:rPr>
              <a:t>覆盖 </a:t>
            </a:r>
            <a:r>
              <a:rPr lang="en-US" altLang="zh-CN" b="1" i="0" dirty="0">
                <a:solidFill>
                  <a:schemeClr val="accent6"/>
                </a:solidFill>
                <a:effectLst/>
                <a:latin typeface="微软雅黑" charset="-122"/>
                <a:ea typeface="微软雅黑" charset="-122"/>
              </a:rPr>
              <a:t>2200 </a:t>
            </a:r>
            <a:r>
              <a:rPr lang="zh-CN" altLang="en-US" b="1" i="0" dirty="0">
                <a:solidFill>
                  <a:schemeClr val="accent6"/>
                </a:solidFill>
                <a:effectLst/>
                <a:latin typeface="微软雅黑" charset="-122"/>
                <a:ea typeface="微软雅黑" charset="-122"/>
              </a:rPr>
              <a:t>万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微软雅黑" charset="-122"/>
                <a:ea typeface="微软雅黑" charset="-122"/>
              </a:rPr>
              <a:t>活跃开发者</a:t>
            </a:r>
            <a:endParaRPr lang="en-US" altLang="zh-CN" b="1" i="0" dirty="0">
              <a:solidFill>
                <a:schemeClr val="bg1"/>
              </a:solidFill>
              <a:effectLst/>
              <a:latin typeface="微软雅黑" charset="-122"/>
              <a:ea typeface="微软雅黑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b="1" i="0" dirty="0">
              <a:solidFill>
                <a:schemeClr val="bg1"/>
              </a:solidFill>
              <a:effectLst/>
              <a:latin typeface="微软雅黑" charset="-122"/>
              <a:ea typeface="微软雅黑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i="0" dirty="0">
                <a:solidFill>
                  <a:schemeClr val="bg1"/>
                </a:solidFill>
                <a:effectLst/>
                <a:latin typeface="微软雅黑" charset="-122"/>
                <a:ea typeface="微软雅黑" charset="-122"/>
              </a:rPr>
              <a:t>定位</a:t>
            </a:r>
            <a:r>
              <a:rPr lang="zh-CN" altLang="en-US" b="1" i="0" dirty="0">
                <a:solidFill>
                  <a:schemeClr val="accent6"/>
                </a:solidFill>
                <a:effectLst/>
                <a:latin typeface="微软雅黑" charset="-122"/>
                <a:ea typeface="微软雅黑" charset="-122"/>
              </a:rPr>
              <a:t>准确率 </a:t>
            </a:r>
            <a:r>
              <a:rPr lang="en-US" altLang="zh-CN" b="1" i="0" dirty="0">
                <a:solidFill>
                  <a:schemeClr val="accent6"/>
                </a:solidFill>
                <a:effectLst/>
                <a:latin typeface="微软雅黑" charset="-122"/>
                <a:ea typeface="微软雅黑" charset="-122"/>
              </a:rPr>
              <a:t>74.1% </a:t>
            </a:r>
            <a:endParaRPr lang="en-US" altLang="zh-CN" b="1" i="0" dirty="0">
              <a:solidFill>
                <a:schemeClr val="accent6"/>
              </a:solidFill>
              <a:effectLst/>
              <a:latin typeface="微软雅黑" charset="-122"/>
              <a:ea typeface="微软雅黑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b="1" i="0" dirty="0">
              <a:solidFill>
                <a:schemeClr val="bg1"/>
              </a:solidFill>
              <a:effectLst/>
              <a:latin typeface="微软雅黑" charset="-122"/>
              <a:ea typeface="微软雅黑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i="0" dirty="0">
                <a:solidFill>
                  <a:schemeClr val="bg1"/>
                </a:solidFill>
                <a:effectLst/>
                <a:latin typeface="微软雅黑" charset="-122"/>
                <a:ea typeface="微软雅黑" charset="-122"/>
              </a:rPr>
              <a:t>首次实现</a:t>
            </a:r>
            <a:r>
              <a:rPr lang="zh-CN" altLang="en-US" b="1" i="0" dirty="0">
                <a:solidFill>
                  <a:schemeClr val="accent6"/>
                </a:solidFill>
                <a:effectLst/>
                <a:latin typeface="微软雅黑" charset="-122"/>
                <a:ea typeface="微软雅黑" charset="-122"/>
              </a:rPr>
              <a:t>无自填依赖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微软雅黑" charset="-122"/>
                <a:ea typeface="微软雅黑" charset="-122"/>
              </a:rPr>
              <a:t>的全域地理推断</a:t>
            </a:r>
            <a:endParaRPr lang="zh-CN" altLang="en-US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84977" y="2353786"/>
            <a:ext cx="5384494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从 </a:t>
            </a:r>
            <a:r>
              <a:rPr lang="en-US" altLang="zh-CN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OpenDigger </a:t>
            </a:r>
            <a:r>
              <a:rPr lang="zh-CN" altLang="en-US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出发，又回到 </a:t>
            </a:r>
            <a:r>
              <a:rPr lang="en-US" altLang="zh-CN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OpenDigger</a:t>
            </a:r>
            <a:endParaRPr lang="en-US" altLang="zh-CN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endParaRPr lang="en-US" altLang="zh-CN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每一份代码贡献都被映射到真实世界的经纬上</a:t>
            </a:r>
            <a:endParaRPr lang="zh-CN" altLang="en-US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13" name="图形 12" descr="V 形箭头 纯色填充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0577" y="2385035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图像" descr="图像"/>
          <p:cNvPicPr>
            <a:picLocks noChangeAspect="1"/>
          </p:cNvPicPr>
          <p:nvPr/>
        </p:nvPicPr>
        <p:blipFill>
          <a:blip r:embed="rId1">
            <a:alphaModFix amt="48203"/>
          </a:blip>
          <a:stretch>
            <a:fillRect/>
          </a:stretch>
        </p:blipFill>
        <p:spPr>
          <a:xfrm>
            <a:off x="5218855" y="1391236"/>
            <a:ext cx="1754290" cy="214146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7" name="圆形"/>
          <p:cNvSpPr/>
          <p:nvPr/>
        </p:nvSpPr>
        <p:spPr>
          <a:xfrm>
            <a:off x="5593675" y="1785719"/>
            <a:ext cx="1004650" cy="1004650"/>
          </a:xfrm>
          <a:prstGeom prst="ellipse">
            <a:avLst/>
          </a:prstGeom>
          <a:solidFill>
            <a:srgbClr val="111214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138" name="02"/>
          <p:cNvSpPr txBox="1"/>
          <p:nvPr/>
        </p:nvSpPr>
        <p:spPr>
          <a:xfrm>
            <a:off x="5704899" y="1941145"/>
            <a:ext cx="782202" cy="76999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48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dirty="0"/>
              <a:t>02</a:t>
            </a:r>
            <a:endParaRPr dirty="0"/>
          </a:p>
        </p:txBody>
      </p:sp>
      <p:sp>
        <p:nvSpPr>
          <p:cNvPr id="139" name="第二模块标题"/>
          <p:cNvSpPr txBox="1"/>
          <p:nvPr/>
        </p:nvSpPr>
        <p:spPr>
          <a:xfrm>
            <a:off x="5543473" y="4267501"/>
            <a:ext cx="943610" cy="55308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000" b="1" spc="359">
                <a:solidFill>
                  <a:srgbClr val="07A1D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pPr algn="l"/>
            <a:r>
              <a:rPr lang="zh-CN" altLang="en-US" dirty="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方法</a:t>
            </a:r>
            <a:endParaRPr lang="zh-CN" altLang="en-US" dirty="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pic>
        <p:nvPicPr>
          <p:cNvPr id="14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1" y="583142"/>
            <a:ext cx="1137059" cy="5018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线条"/>
          <p:cNvSpPr/>
          <p:nvPr/>
        </p:nvSpPr>
        <p:spPr>
          <a:xfrm flipV="1">
            <a:off x="6096000" y="3597508"/>
            <a:ext cx="0" cy="296759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/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267" y="6111469"/>
            <a:ext cx="1137058" cy="5018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6" name="矩形"/>
          <p:cNvSpPr/>
          <p:nvPr/>
        </p:nvSpPr>
        <p:spPr>
          <a:xfrm>
            <a:off x="0" y="228147"/>
            <a:ext cx="228115" cy="596224"/>
          </a:xfrm>
          <a:prstGeom prst="rect">
            <a:avLst/>
          </a:prstGeom>
          <a:solidFill>
            <a:srgbClr val="9AD744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227" name="0X"/>
          <p:cNvSpPr txBox="1"/>
          <p:nvPr/>
        </p:nvSpPr>
        <p:spPr>
          <a:xfrm>
            <a:off x="407602" y="122626"/>
            <a:ext cx="804064" cy="86177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5000" b="1">
                <a:solidFill>
                  <a:srgbClr val="07A1D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230" name="线条"/>
          <p:cNvSpPr/>
          <p:nvPr/>
        </p:nvSpPr>
        <p:spPr>
          <a:xfrm flipV="1">
            <a:off x="1271037" y="230253"/>
            <a:ext cx="213541" cy="592013"/>
          </a:xfrm>
          <a:prstGeom prst="line">
            <a:avLst/>
          </a:prstGeom>
          <a:ln w="12700">
            <a:solidFill>
              <a:srgbClr val="9AD744"/>
            </a:solidFill>
            <a:miter/>
          </a:ln>
        </p:spPr>
        <p:txBody>
          <a:bodyPr lIns="45719" rIns="45719"/>
          <a:lstStyle/>
          <a:p/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543949" y="159712"/>
            <a:ext cx="9955333" cy="662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方法：多源信号的分层融合定位</a:t>
            </a:r>
            <a:endParaRPr lang="zh-CN" altLang="en-US" sz="28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7508" y="825003"/>
            <a:ext cx="10274817" cy="961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        </a:t>
            </a:r>
            <a:r>
              <a:rPr lang="zh-CN" altLang="en-US" sz="20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我们设计了一套</a:t>
            </a:r>
            <a:r>
              <a:rPr lang="zh-CN" altLang="en-US" sz="2000" b="1" i="0" dirty="0">
                <a:solidFill>
                  <a:schemeClr val="accent6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五阶段、渐进式、可解释性强</a:t>
            </a:r>
            <a:r>
              <a:rPr lang="zh-CN" altLang="en-US" sz="20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的地理推断框架，从原始数据到最终位置预测，逐层递进、动态融合。整个流程分为以下五个核心模块：</a:t>
            </a:r>
            <a:endParaRPr lang="zh-CN" altLang="en-US" sz="2000" dirty="0">
              <a:solidFill>
                <a:schemeClr val="bg1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pic>
        <p:nvPicPr>
          <p:cNvPr id="7" name="图片 6" descr="图示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13" y="1852574"/>
            <a:ext cx="9951991" cy="355285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文本框 8"/>
          <p:cNvSpPr txBox="1"/>
          <p:nvPr/>
        </p:nvSpPr>
        <p:spPr>
          <a:xfrm>
            <a:off x="871861" y="5441134"/>
            <a:ext cx="10122943" cy="9612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i="0" dirty="0">
                <a:solidFill>
                  <a:schemeClr val="bg1"/>
                </a:solidFill>
                <a:effectLst/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      整个框架具备</a:t>
            </a:r>
            <a:r>
              <a:rPr lang="zh-CN" altLang="en-US" sz="2000" b="1" i="0" dirty="0">
                <a:solidFill>
                  <a:schemeClr val="accent6"/>
                </a:solidFill>
                <a:effectLst/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强可解释性</a:t>
            </a:r>
            <a:r>
              <a:rPr lang="zh-CN" altLang="en-US" sz="2000" i="0" dirty="0">
                <a:solidFill>
                  <a:schemeClr val="bg1"/>
                </a:solidFill>
                <a:effectLst/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（每层独立输出）、</a:t>
            </a:r>
            <a:r>
              <a:rPr lang="zh-CN" altLang="en-US" sz="2000" b="1" i="0" dirty="0">
                <a:solidFill>
                  <a:schemeClr val="accent6"/>
                </a:solidFill>
                <a:effectLst/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高鲁棒性</a:t>
            </a:r>
            <a:r>
              <a:rPr lang="zh-CN" altLang="en-US" sz="2000" i="0" dirty="0">
                <a:solidFill>
                  <a:schemeClr val="bg1"/>
                </a:solidFill>
                <a:effectLst/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（应对缺失数据）与</a:t>
            </a:r>
            <a:r>
              <a:rPr lang="zh-CN" altLang="en-US" sz="2000" b="1" i="0" dirty="0">
                <a:solidFill>
                  <a:schemeClr val="accent6"/>
                </a:solidFill>
                <a:effectLst/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低依赖性</a:t>
            </a:r>
            <a:r>
              <a:rPr lang="zh-CN" altLang="en-US" sz="2000" i="0" dirty="0">
                <a:solidFill>
                  <a:schemeClr val="bg1"/>
                </a:solidFill>
                <a:effectLst/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（无需用户主动填报）</a:t>
            </a:r>
            <a:endParaRPr lang="zh-CN" altLang="en-US" sz="2000" dirty="0">
              <a:solidFill>
                <a:schemeClr val="bg1"/>
              </a:solidFill>
              <a:latin typeface="微软雅黑" charset="-122"/>
              <a:ea typeface="微软雅黑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267" y="6111469"/>
            <a:ext cx="1137058" cy="5018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6" name="矩形"/>
          <p:cNvSpPr/>
          <p:nvPr/>
        </p:nvSpPr>
        <p:spPr>
          <a:xfrm>
            <a:off x="0" y="228147"/>
            <a:ext cx="228115" cy="596224"/>
          </a:xfrm>
          <a:prstGeom prst="rect">
            <a:avLst/>
          </a:prstGeom>
          <a:solidFill>
            <a:srgbClr val="9AD744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227" name="0X"/>
          <p:cNvSpPr txBox="1"/>
          <p:nvPr/>
        </p:nvSpPr>
        <p:spPr>
          <a:xfrm>
            <a:off x="407602" y="122626"/>
            <a:ext cx="804064" cy="86177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5000" b="1">
                <a:solidFill>
                  <a:srgbClr val="07A1D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230" name="线条"/>
          <p:cNvSpPr/>
          <p:nvPr/>
        </p:nvSpPr>
        <p:spPr>
          <a:xfrm flipV="1">
            <a:off x="1271037" y="230253"/>
            <a:ext cx="213541" cy="592013"/>
          </a:xfrm>
          <a:prstGeom prst="line">
            <a:avLst/>
          </a:prstGeom>
          <a:ln w="12700">
            <a:solidFill>
              <a:srgbClr val="9AD744"/>
            </a:solidFill>
            <a:miter/>
          </a:ln>
        </p:spPr>
        <p:txBody>
          <a:bodyPr lIns="45719" rIns="45719"/>
          <a:lstStyle/>
          <a:p/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42911" y="3592672"/>
            <a:ext cx="4581489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200" dirty="0" err="1">
                <a:solidFill>
                  <a:schemeClr val="bg1"/>
                </a:solidFill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tidextract</a:t>
            </a:r>
            <a:r>
              <a:rPr lang="zh-CN" altLang="en-US" sz="1200" dirty="0">
                <a:solidFill>
                  <a:schemeClr val="bg1"/>
                </a:solidFill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 </a:t>
            </a:r>
            <a:r>
              <a:rPr lang="en-US" altLang="zh-CN" sz="1200" dirty="0">
                <a:solidFill>
                  <a:schemeClr val="bg1"/>
                </a:solidFill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+ </a:t>
            </a:r>
            <a:r>
              <a:rPr lang="en-US" altLang="zh-CN" sz="1200" dirty="0" err="1">
                <a:solidFill>
                  <a:schemeClr val="bg1"/>
                </a:solidFill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pycountry</a:t>
            </a:r>
            <a:r>
              <a:rPr lang="zh-CN" altLang="en-US" sz="1200" dirty="0">
                <a:solidFill>
                  <a:schemeClr val="bg1"/>
                </a:solidFill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：从邮箱域名提取国家代码</a:t>
            </a:r>
            <a:endParaRPr lang="en-US" altLang="zh-CN" sz="1200" dirty="0">
              <a:solidFill>
                <a:schemeClr val="bg1"/>
              </a:solidFill>
              <a:latin typeface="微软雅黑" charset="-122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200" dirty="0">
                <a:solidFill>
                  <a:schemeClr val="bg1"/>
                </a:solidFill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GeoLite2-Country</a:t>
            </a:r>
            <a:r>
              <a:rPr lang="zh-CN" altLang="en-US" sz="1200" dirty="0">
                <a:solidFill>
                  <a:schemeClr val="bg1"/>
                </a:solidFill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：通过 </a:t>
            </a:r>
            <a:r>
              <a:rPr lang="en-US" altLang="zh-CN" sz="1200" dirty="0">
                <a:solidFill>
                  <a:schemeClr val="bg1"/>
                </a:solidFill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IP </a:t>
            </a:r>
            <a:r>
              <a:rPr lang="zh-CN" altLang="en-US" sz="1200" dirty="0">
                <a:solidFill>
                  <a:schemeClr val="bg1"/>
                </a:solidFill>
                <a:latin typeface="微软雅黑" charset="-122"/>
                <a:ea typeface="微软雅黑" charset="-122"/>
                <a:cs typeface="Times New Roman" panose="02020503050405090304" pitchFamily="18" charset="0"/>
              </a:rPr>
              <a:t>归属地（若可用）映射地理位置</a:t>
            </a:r>
            <a:endParaRPr lang="zh-CN" altLang="en-US" sz="1200" dirty="0">
              <a:solidFill>
                <a:schemeClr val="bg1"/>
              </a:solidFill>
              <a:latin typeface="微软雅黑" charset="-122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83095" y="4351736"/>
            <a:ext cx="5871279" cy="1154162"/>
          </a:xfrm>
          <a:prstGeom prst="rect">
            <a:avLst/>
          </a:prstGeom>
          <a:noFill/>
          <a:ln w="19050" cap="flat">
            <a:solidFill>
              <a:schemeClr val="accent6"/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altLang="zh-CN" sz="1600" b="1" i="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5. 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特征感知的自适应集成层</a:t>
            </a:r>
            <a:endParaRPr lang="zh-CN" altLang="en-US" sz="1600" b="1" i="0" dirty="0">
              <a:solidFill>
                <a:schemeClr val="accent2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融合前三层输出：时间行为特征 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+ 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姓名文化特征 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+ 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网络协作特征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使用 </a:t>
            </a:r>
            <a:r>
              <a:rPr lang="en-US" altLang="zh-CN" sz="1200" i="0" dirty="0" err="1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XGBoost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 / </a:t>
            </a:r>
            <a:r>
              <a:rPr lang="en-US" altLang="zh-CN" sz="1200" i="0" dirty="0" err="1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BiLSTM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 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混合模型 构建自适应集成框架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根据各特征的置信度与可用性（如是否拥有邮箱等），动态加权决策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最终输出：预测地理位置 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+ 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置信度分数，支持不确定性量化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6662" y="1134158"/>
            <a:ext cx="11147712" cy="1708160"/>
          </a:xfrm>
          <a:prstGeom prst="rect">
            <a:avLst/>
          </a:prstGeom>
          <a:noFill/>
          <a:ln w="19050" cap="flat">
            <a:solidFill>
              <a:schemeClr val="accent6"/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altLang="zh-CN" sz="1600" b="1" i="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1. 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数据获取与预处理</a:t>
            </a:r>
            <a:endParaRPr lang="zh-CN" altLang="en-US" sz="1600" b="1" i="0" dirty="0">
              <a:solidFill>
                <a:schemeClr val="accent2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数据源：基于 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GitHub </a:t>
            </a:r>
            <a:r>
              <a:rPr lang="en-US" altLang="zh-CN" sz="1200" i="0" dirty="0" err="1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GHArchive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 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全域日志（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2024–2025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），涵盖姓名、邮箱、个人资料、活跃日志、机构信息等多模态字段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预处理方法：</a:t>
            </a:r>
            <a:endParaRPr lang="en-US" altLang="zh-CN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altLang="zh-CN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algn="l"/>
            <a:endParaRPr lang="en-US" altLang="zh-CN" sz="1200" dirty="0">
              <a:solidFill>
                <a:schemeClr val="bg1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algn="l"/>
            <a:endParaRPr lang="en-US" altLang="zh-CN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algn="l"/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输出为结构化特征集：时间活动模式、协作关系、机构名称、邮件域、姓名文本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6662" y="3012908"/>
            <a:ext cx="5117977" cy="1338828"/>
          </a:xfrm>
          <a:prstGeom prst="rect">
            <a:avLst/>
          </a:prstGeom>
          <a:noFill/>
          <a:ln w="19050" cap="flat">
            <a:solidFill>
              <a:schemeClr val="accent6"/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altLang="zh-CN" sz="1600" b="1" i="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2. 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规则驱动的定位层</a:t>
            </a:r>
            <a:endParaRPr lang="zh-CN" altLang="en-US" sz="1600" b="1" i="0" dirty="0">
              <a:solidFill>
                <a:schemeClr val="accent2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利用规则库进行快速初筛：</a:t>
            </a:r>
            <a:endParaRPr lang="en-US" altLang="zh-CN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altLang="zh-CN" sz="1200" dirty="0">
              <a:solidFill>
                <a:schemeClr val="bg1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altLang="zh-CN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altLang="zh-CN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输出：初步预测的部分地理位置（如中国、美国），作为后续层的输入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83095" y="3015591"/>
            <a:ext cx="5871278" cy="1154162"/>
          </a:xfrm>
          <a:prstGeom prst="rect">
            <a:avLst/>
          </a:prstGeom>
          <a:noFill/>
          <a:ln w="19050" cap="flat">
            <a:solidFill>
              <a:schemeClr val="accent6"/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altLang="zh-CN" sz="1600" b="1" i="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3. 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姓名文化感知层</a:t>
            </a:r>
            <a:endParaRPr lang="zh-CN" altLang="en-US" sz="1600" b="1" i="0" dirty="0">
              <a:solidFill>
                <a:schemeClr val="accent2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对姓名进行基于规则的分词（如“王伟” → “王”、“伟”）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接入 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Forebears 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姓名数据库，计算姓名在各国的人口分布概率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构建“姓名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-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地点关联评分”，生成 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Top5 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国家候选列表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示例：“李明”在中文语境中高概率指向中国，但若时区不匹配，则触发后续验证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6662" y="4528900"/>
            <a:ext cx="5117977" cy="1708160"/>
          </a:xfrm>
          <a:prstGeom prst="rect">
            <a:avLst/>
          </a:prstGeom>
          <a:noFill/>
          <a:ln w="19050" cap="flat">
            <a:solidFill>
              <a:schemeClr val="accent6"/>
            </a:solidFill>
            <a:prstDash val="sys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altLang="zh-CN" sz="1600" b="1" i="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4. 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时区交叉验证层</a:t>
            </a:r>
            <a:endParaRPr lang="zh-CN" altLang="en-US" sz="1600" b="1" i="0" dirty="0">
              <a:solidFill>
                <a:schemeClr val="accent2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分析开发者在 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GitHub 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上的活跃时间戳（提交、评论、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PR 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等）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提取其本地时区偏移（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UTC+8, UTC-5 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等）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与姓名文化层输出的候选国家进行多维度融合判断：</a:t>
            </a:r>
            <a:endParaRPr lang="en-US" altLang="zh-CN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altLang="zh-CN" sz="1200" dirty="0">
              <a:solidFill>
                <a:schemeClr val="bg1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altLang="zh-CN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输出：经时区校正后的地理候选项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6662" y="1917495"/>
            <a:ext cx="436475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628650" lvl="1" indent="-171450" algn="l">
              <a:buFont typeface="Wingdings" panose="05000000000000000000" pitchFamily="2" charset="2"/>
              <a:buChar char="ü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地理信息标准化（如统一国家名称格式）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628650" lvl="1" indent="-171450" algn="l">
              <a:buFont typeface="Wingdings" panose="05000000000000000000" pitchFamily="2" charset="2"/>
              <a:buChar char="ü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邮件地址解析（提取域名、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TLD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）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628650" lvl="1" indent="-171450" algn="l">
              <a:buFont typeface="Wingdings" panose="05000000000000000000" pitchFamily="2" charset="2"/>
              <a:buChar char="ü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多模态特征提取（构建协作网络、时间行为模式）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6662" y="5464493"/>
            <a:ext cx="4729109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628650" lvl="1" indent="-171450" algn="l">
              <a:buFont typeface="Wingdings" panose="05000000000000000000" pitchFamily="2" charset="2"/>
              <a:buChar char="ü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若“姓名指向中国，时区为 </a:t>
            </a:r>
            <a:r>
              <a:rPr lang="en-US" altLang="zh-CN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UTC+9”</a:t>
            </a: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，则可能为日本工作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marL="628650" lvl="1" indent="-171450" algn="l">
              <a:buFont typeface="Wingdings" panose="05000000000000000000" pitchFamily="2" charset="2"/>
              <a:buChar char="ü"/>
            </a:pPr>
            <a:r>
              <a:rPr lang="zh-CN" altLang="en-US" sz="1200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引入距离衰减机制，避免简单投票导致误判</a:t>
            </a:r>
            <a:endParaRPr lang="zh-CN" altLang="en-US" sz="1200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806311" y="5676826"/>
            <a:ext cx="369674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2</a:t>
            </a:r>
            <a:endParaRPr lang="zh-CN" altLang="en-US" sz="2000" b="1" dirty="0">
              <a:solidFill>
                <a:schemeClr val="accent2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393229" y="5676826"/>
            <a:ext cx="369674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4</a:t>
            </a:r>
            <a:endParaRPr lang="zh-CN" altLang="en-US" sz="2000" b="1" dirty="0">
              <a:solidFill>
                <a:schemeClr val="accent2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12852" y="5676826"/>
            <a:ext cx="369674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1</a:t>
            </a:r>
            <a:endParaRPr lang="zh-CN" altLang="en-US" sz="2000" b="1" dirty="0">
              <a:solidFill>
                <a:schemeClr val="accent2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599770" y="5676826"/>
            <a:ext cx="369674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3</a:t>
            </a:r>
            <a:endParaRPr lang="zh-CN" altLang="en-US" sz="2000" b="1" dirty="0">
              <a:solidFill>
                <a:schemeClr val="accent2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186686" y="5676826"/>
            <a:ext cx="369674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5</a:t>
            </a:r>
            <a:endParaRPr lang="zh-CN" altLang="en-US" sz="2000" b="1" dirty="0">
              <a:solidFill>
                <a:schemeClr val="accent2"/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24" name="箭头: 右 23"/>
          <p:cNvSpPr/>
          <p:nvPr/>
        </p:nvSpPr>
        <p:spPr>
          <a:xfrm>
            <a:off x="6401862" y="5906527"/>
            <a:ext cx="369674" cy="204941"/>
          </a:xfrm>
          <a:prstGeom prst="rightArrow">
            <a:avLst/>
          </a:prstGeom>
          <a:solidFill>
            <a:schemeClr val="accent6"/>
          </a:solidFill>
          <a:ln w="12700" cap="flat">
            <a:solidFill>
              <a:schemeClr val="accent6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DengXian"/>
            </a:endParaRPr>
          </a:p>
        </p:txBody>
      </p:sp>
      <p:sp>
        <p:nvSpPr>
          <p:cNvPr id="25" name="箭头: 右 24"/>
          <p:cNvSpPr/>
          <p:nvPr/>
        </p:nvSpPr>
        <p:spPr>
          <a:xfrm>
            <a:off x="7206912" y="5906527"/>
            <a:ext cx="369674" cy="204941"/>
          </a:xfrm>
          <a:prstGeom prst="rightArrow">
            <a:avLst/>
          </a:prstGeom>
          <a:solidFill>
            <a:schemeClr val="accent6"/>
          </a:solidFill>
          <a:ln w="12700" cap="flat">
            <a:solidFill>
              <a:schemeClr val="accent6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DengXian"/>
            </a:endParaRPr>
          </a:p>
        </p:txBody>
      </p:sp>
      <p:sp>
        <p:nvSpPr>
          <p:cNvPr id="26" name="箭头: 右 25"/>
          <p:cNvSpPr/>
          <p:nvPr/>
        </p:nvSpPr>
        <p:spPr>
          <a:xfrm>
            <a:off x="8011962" y="5906527"/>
            <a:ext cx="369674" cy="204941"/>
          </a:xfrm>
          <a:prstGeom prst="rightArrow">
            <a:avLst/>
          </a:prstGeom>
          <a:solidFill>
            <a:schemeClr val="accent6"/>
          </a:solidFill>
          <a:ln w="12700" cap="flat">
            <a:solidFill>
              <a:schemeClr val="accent6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DengXian"/>
            </a:endParaRPr>
          </a:p>
        </p:txBody>
      </p:sp>
      <p:sp>
        <p:nvSpPr>
          <p:cNvPr id="27" name="箭头: 右 26"/>
          <p:cNvSpPr/>
          <p:nvPr/>
        </p:nvSpPr>
        <p:spPr>
          <a:xfrm>
            <a:off x="8817012" y="5906527"/>
            <a:ext cx="369674" cy="204941"/>
          </a:xfrm>
          <a:prstGeom prst="rightArrow">
            <a:avLst/>
          </a:prstGeom>
          <a:solidFill>
            <a:schemeClr val="accent6"/>
          </a:solidFill>
          <a:ln w="12700" cap="flat">
            <a:solidFill>
              <a:schemeClr val="accent6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DengXian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391" y="583142"/>
            <a:ext cx="1137059" cy="5018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0" name="线条"/>
          <p:cNvSpPr/>
          <p:nvPr/>
        </p:nvSpPr>
        <p:spPr>
          <a:xfrm>
            <a:off x="2441382" y="2366335"/>
            <a:ext cx="7309235" cy="1"/>
          </a:xfrm>
          <a:prstGeom prst="line">
            <a:avLst/>
          </a:prstGeom>
          <a:ln w="25400">
            <a:solidFill>
              <a:srgbClr val="07A1D7"/>
            </a:solidFill>
            <a:miter/>
          </a:ln>
        </p:spPr>
        <p:txBody>
          <a:bodyPr lIns="45719" rIns="45719"/>
          <a:lstStyle/>
          <a:p/>
        </p:txBody>
      </p:sp>
      <p:sp>
        <p:nvSpPr>
          <p:cNvPr id="281" name="线条"/>
          <p:cNvSpPr/>
          <p:nvPr/>
        </p:nvSpPr>
        <p:spPr>
          <a:xfrm>
            <a:off x="2459203" y="4319842"/>
            <a:ext cx="7434387" cy="1"/>
          </a:xfrm>
          <a:prstGeom prst="line">
            <a:avLst/>
          </a:prstGeom>
          <a:ln w="25400">
            <a:solidFill>
              <a:srgbClr val="07A1D7"/>
            </a:solidFill>
            <a:miter/>
          </a:ln>
        </p:spPr>
        <p:txBody>
          <a:bodyPr lIns="45719" rIns="45719"/>
          <a:lstStyle/>
          <a:p/>
        </p:txBody>
      </p:sp>
      <p:pic>
        <p:nvPicPr>
          <p:cNvPr id="282" name="图像" descr="图像"/>
          <p:cNvPicPr>
            <a:picLocks noChangeAspect="1"/>
          </p:cNvPicPr>
          <p:nvPr/>
        </p:nvPicPr>
        <p:blipFill>
          <a:blip r:embed="rId2">
            <a:alphaModFix amt="80344"/>
          </a:blip>
          <a:stretch>
            <a:fillRect/>
          </a:stretch>
        </p:blipFill>
        <p:spPr>
          <a:xfrm>
            <a:off x="2378807" y="2818309"/>
            <a:ext cx="7434386" cy="10368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4" name="圆形"/>
          <p:cNvSpPr/>
          <p:nvPr/>
        </p:nvSpPr>
        <p:spPr>
          <a:xfrm>
            <a:off x="4954580" y="5267630"/>
            <a:ext cx="79847" cy="79847"/>
          </a:xfrm>
          <a:prstGeom prst="ellipse">
            <a:avLst/>
          </a:prstGeom>
          <a:solidFill>
            <a:srgbClr val="07A0D6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285" name="圆形"/>
          <p:cNvSpPr/>
          <p:nvPr/>
        </p:nvSpPr>
        <p:spPr>
          <a:xfrm>
            <a:off x="7157573" y="5267630"/>
            <a:ext cx="79847" cy="79847"/>
          </a:xfrm>
          <a:prstGeom prst="ellipse">
            <a:avLst/>
          </a:prstGeom>
          <a:solidFill>
            <a:srgbClr val="99D644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DengXian"/>
        <a:ea typeface="DengXian"/>
        <a:cs typeface="DengXia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DengXi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DengXi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DengXian"/>
        <a:ea typeface="DengXian"/>
        <a:cs typeface="DengXia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DengXi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DengXi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1639</Words>
  <Application>WPS 表格</Application>
  <PresentationFormat>宽屏</PresentationFormat>
  <Paragraphs>149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0" baseType="lpstr">
      <vt:lpstr>Arial</vt:lpstr>
      <vt:lpstr>宋体</vt:lpstr>
      <vt:lpstr>Wingdings</vt:lpstr>
      <vt:lpstr>DengXian</vt:lpstr>
      <vt:lpstr>汉仪中等线KW</vt:lpstr>
      <vt:lpstr>DengXian Light</vt:lpstr>
      <vt:lpstr>Arial</vt:lpstr>
      <vt:lpstr>Times New Roman</vt:lpstr>
      <vt:lpstr>微软雅黑</vt:lpstr>
      <vt:lpstr>汉仪旗黑</vt:lpstr>
      <vt:lpstr>微软雅黑</vt:lpstr>
      <vt:lpstr>微软雅黑</vt:lpstr>
      <vt:lpstr>宋体</vt:lpstr>
      <vt:lpstr>Arial Unicode MS</vt:lpstr>
      <vt:lpstr>汉仪书宋二KW</vt:lpstr>
      <vt:lpstr>Calibri</vt:lpstr>
      <vt:lpstr>Helvetica Neue</vt:lpstr>
      <vt:lpstr>DengXian</vt:lpstr>
      <vt:lpstr>Wingdings</vt:lpstr>
      <vt:lpstr>Apple Color Emoji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Peng</cp:lastModifiedBy>
  <cp:revision>421</cp:revision>
  <dcterms:created xsi:type="dcterms:W3CDTF">2026-01-15T11:11:08Z</dcterms:created>
  <dcterms:modified xsi:type="dcterms:W3CDTF">2026-01-15T11:11:08Z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CCE76FC4214C5BCB4CCB68690CBF4C65_43</vt:lpwstr>
  </property>
  <property fmtid="{D5CDD505-2E9C-101B-9397-08002B2CF9AE}" pid="3" name="KSOProductBuildVer">
    <vt:lpwstr>2052-12.1.24031.24031</vt:lpwstr>
  </property>
</Properties>
</file>